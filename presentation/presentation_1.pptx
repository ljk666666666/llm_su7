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3" r:id="rId7"/>
    <p:sldId id="261" r:id="rId8"/>
    <p:sldId id="272" r:id="rId9"/>
    <p:sldId id="270" r:id="rId10"/>
    <p:sldId id="275" r:id="rId11"/>
    <p:sldId id="260" r:id="rId12"/>
    <p:sldId id="262" r:id="rId13"/>
    <p:sldId id="263" r:id="rId14"/>
    <p:sldId id="274" r:id="rId15"/>
    <p:sldId id="264" r:id="rId16"/>
    <p:sldId id="266" r:id="rId17"/>
    <p:sldId id="267" r:id="rId18"/>
    <p:sldId id="265" r:id="rId19"/>
    <p:sldId id="268" r:id="rId20"/>
    <p:sldId id="269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重要性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用户评论数</c:v>
                </c:pt>
                <c:pt idx="1">
                  <c:v>是否一级评论</c:v>
                </c:pt>
                <c:pt idx="2">
                  <c:v>微博评论数</c:v>
                </c:pt>
                <c:pt idx="3">
                  <c:v>评论长度</c:v>
                </c:pt>
                <c:pt idx="4">
                  <c:v>时间索引</c:v>
                </c:pt>
                <c:pt idx="5">
                  <c:v>发布小时</c:v>
                </c:pt>
                <c:pt idx="6">
                  <c:v>最大相似度</c:v>
                </c:pt>
                <c:pt idx="7">
                  <c:v>表情数</c:v>
                </c:pt>
                <c:pt idx="8">
                  <c:v>感叹号数</c:v>
                </c:pt>
                <c:pt idx="9">
                  <c:v>重复次数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0.314</c:v>
                </c:pt>
                <c:pt idx="1">
                  <c:v>0.26600000000000001</c:v>
                </c:pt>
                <c:pt idx="2">
                  <c:v>0.21099999999999999</c:v>
                </c:pt>
                <c:pt idx="3">
                  <c:v>5.8000000000000003E-2</c:v>
                </c:pt>
                <c:pt idx="4">
                  <c:v>4.2000000000000003E-2</c:v>
                </c:pt>
                <c:pt idx="5">
                  <c:v>3.5000000000000003E-2</c:v>
                </c:pt>
                <c:pt idx="6">
                  <c:v>2.8000000000000001E-2</c:v>
                </c:pt>
                <c:pt idx="7">
                  <c:v>1.7999999999999999E-2</c:v>
                </c:pt>
                <c:pt idx="8">
                  <c:v>1.4999999999999999E-2</c:v>
                </c:pt>
                <c:pt idx="9">
                  <c:v>1.2999999999999999E-2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11-4760-9976-0D6BB17EC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zh-CN" altLang="en-US" b="0" i="0" u="none" strike="noStrike">
                    <a:solidFill>
                      <a:srgbClr val="000000"/>
                    </a:solidFill>
                    <a:latin typeface="Arial"/>
                  </a:rPr>
                  <a:t>重要性得分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92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7AD9A-FED6-BB0E-73F4-A411315EF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65376-886E-EC4F-0A12-B9FE57AD7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C7D3B-0B2C-69F1-1106-AC22D7985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60FA8-80C6-D258-964D-37BA3C359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12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279A5-CAC3-83C1-6AC0-B5EE6F82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C469A-930C-C903-CD58-DA2C3AE77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CE9E1-C101-B8E8-2C5F-A41CFCF2C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BE642-41EA-8C61-2934-3B7CD8C8C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80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104C6-210E-4A17-2F66-26B11A13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40835-E133-7293-910C-7EA0F518F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075BF-2BD3-B4F7-DC73-AC9F5B5F7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1457D-27D3-45FA-4AD8-C625ECAA94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33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AE424-3FEC-A5AA-4460-CFDC5D596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E4CDD-EDE7-62DE-13A2-C422BCCDA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3644-B434-6E15-FFE8-B272E77AA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AE509-D1EB-8DF4-7D31-36E9261F3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06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14F08-0B80-9981-C721-811E5AC1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51BBC-5F74-875B-FB27-2EF4DF83D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97070-5F0A-046B-5D6A-7083AB1C4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9AA06-AA58-DCDB-66E0-91AAA7A32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62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3E71C-54B2-FC2D-F364-E371CB70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29AF1-C986-B044-6205-B8108831E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59B42-5548-E928-97F5-3835E97A3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BE7BC-1AE2-4654-4D00-24E45DE27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10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</a:t>
            </a:r>
            <a:r>
              <a:rPr lang="en-US" altLang="zh-CN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Ngboost</a:t>
            </a:r>
            <a:r>
              <a:rPr lang="zh-CN" alt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endParaRPr lang="en-US" altLang="zh-CN" sz="4000" b="1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altLang="zh-CN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r>
              <a:rPr lang="zh-CN" alt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、交叉注意力机制</a:t>
            </a:r>
            <a:r>
              <a:rPr 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社交媒体评论热度预测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以小米SU7微博数据为例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73152" cy="34747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社交媒体热度预测的重要性
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舆情监控与品牌管理
• 内容推荐系统优化
• 信息传播规律研究
</a:t>
            </a: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小米SU7发布引发热议
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2024年3月28日正式发布
• 小米首款新能源汽车
• 社交媒体广泛讨论
</a:t>
            </a: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数据特点
</a:t>
            </a: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长尾分布：少数热门评论获得大量互动
• 时效性强：热度随时间快速衰减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CF0F1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长尾分布问题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传统MSE不适用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大数预测微小误差被过度惩罚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需要关注相对误差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CF0F1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不确定性量化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60428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模型需要知道</a:t>
            </a:r>
            <a:r>
              <a:rPr 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"自己不知道什么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输出预测置信度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概率预测而非点估计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CF0F1"/>
          </a:solidFill>
          <a:ln w="12700">
            <a:solidFill>
              <a:srgbClr val="2E40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特征表示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多模态特征融合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文本、用户、时序信息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重复/相似内容检测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数据集构建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目的：原数据集点赞数据缺失，重新爬虫</a:t>
            </a:r>
            <a:endParaRPr lang="en-US" sz="140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新浪微博平台</a:t>
            </a:r>
            <a:endParaRPr lang="en-US" sz="1400" dirty="0"/>
          </a:p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时间：2025.3.27 - 2025.4.14</a:t>
            </a:r>
            <a:endParaRPr lang="en-US" sz="1400" dirty="0"/>
          </a:p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方式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：隧道代理绕过反爬虫</a:t>
            </a:r>
            <a:endParaRPr lang="en-US" sz="1400" dirty="0"/>
          </a:p>
          <a:p>
            <a:pPr marL="0" indent="0">
              <a:buNone/>
            </a:pP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机制：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检查点机制支持断点续传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6A08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3716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271,452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条评论数据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数据集划分 (8:1:1)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7772400" cy="1219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样本数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占比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217,162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AB8DF-6CDD-8A48-3452-E6DB4F7D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63D7C3-957D-678F-794F-C69B679D780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689511-1A70-E433-6B01-F006B3D718C5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重复数据（跟风</a:t>
            </a:r>
            <a:r>
              <a:rPr lang="en-US" altLang="zh-CN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</a:t>
            </a:r>
            <a:r>
              <a:rPr lang="en-US" altLang="zh-CN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复读 现象）</a:t>
            </a:r>
            <a:endParaRPr 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734455-A692-6B8A-2839-E80801F53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14" y="1143000"/>
            <a:ext cx="8095571" cy="226886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0F264860-2D12-059B-6AEA-01721BDDAB25}"/>
              </a:ext>
            </a:extLst>
          </p:cNvPr>
          <p:cNvSpPr/>
          <p:nvPr/>
        </p:nvSpPr>
        <p:spPr>
          <a:xfrm>
            <a:off x="2118782" y="3691465"/>
            <a:ext cx="4906433" cy="732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zh-CN" altLang="en-US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第一次出现热度最高</a:t>
            </a:r>
            <a:endParaRPr lang="en-US" altLang="zh-CN" b="1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zh-CN" altLang="en-US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重复数据第一次出现强制划入训练集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185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51AC2-0278-EE5E-3A8C-0F8D8DCB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5B999A-44C4-DAF5-1C2A-9432FFFE7A1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782672-2AEF-BD5B-2728-3BB295D304F0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重复数据（跟风</a:t>
            </a:r>
            <a:r>
              <a:rPr lang="en-US" altLang="zh-CN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引用</a:t>
            </a:r>
            <a:r>
              <a:rPr lang="en-US" altLang="zh-CN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复读 现象）</a:t>
            </a:r>
            <a:endParaRPr lang="en-US" sz="2800" dirty="0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FD6D0FC1-33C1-5E50-E00F-3E183CA91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595" y="1706033"/>
            <a:ext cx="3647591" cy="2988733"/>
          </a:xfrm>
          <a:prstGeom prst="rect">
            <a:avLst/>
          </a:prstGeom>
        </p:spPr>
      </p:pic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FE19D672-F629-673F-4962-0B7CC1AF2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82" y="1735666"/>
            <a:ext cx="3901123" cy="2929468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965840E1-9E43-6CC3-4179-9778EED141AA}"/>
              </a:ext>
            </a:extLst>
          </p:cNvPr>
          <p:cNvSpPr/>
          <p:nvPr/>
        </p:nvSpPr>
        <p:spPr>
          <a:xfrm>
            <a:off x="228586" y="1223433"/>
            <a:ext cx="8720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代码：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8805C5-069B-ACAF-EFD7-4081AC2D407A}"/>
              </a:ext>
            </a:extLst>
          </p:cNvPr>
          <p:cNvSpPr/>
          <p:nvPr/>
        </p:nvSpPr>
        <p:spPr>
          <a:xfrm>
            <a:off x="4572000" y="1223433"/>
            <a:ext cx="8720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</a:t>
            </a: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08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MinHash相似度检测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572000" cy="3345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算法原理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• 通过Jaccard相似度估计文本相似度</a:t>
            </a:r>
          </a:p>
          <a:p>
            <a:r>
              <a:rPr lang="en-US" altLang="zh-CN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文本转换为N-gram集合 (N=3)
• 使用128个哈希函数计算MinHash签名 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8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优化策略
</a:t>
            </a:r>
            <a:r>
              <a:rPr lang="en-US" sz="14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滑动窗口：维护近10,000条评论的签名
• 全局TopK：记录高频重复文本（出现&gt;3次）
• "老梗"记忆机制
</a:t>
            </a:r>
          </a:p>
          <a:p>
            <a:r>
              <a:rPr lang="zh-CN" altLang="en-US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核心公式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13716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F8F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复杂度对比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9202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暴力计算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O(n²)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0" y="19202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O(n·k)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哈希函数数量 (128)</a:t>
            </a:r>
            <a:endParaRPr lang="en-US" sz="1200" dirty="0"/>
          </a:p>
        </p:txBody>
      </p:sp>
      <p:pic>
        <p:nvPicPr>
          <p:cNvPr id="14" name="图片 13" descr="图片包含 文本&#10;&#10;AI 生成的内容可能不正确。">
            <a:extLst>
              <a:ext uri="{FF2B5EF4-FFF2-40B4-BE49-F238E27FC236}">
                <a16:creationId xmlns:a16="http://schemas.microsoft.com/office/drawing/2014/main" id="{05EEE710-FF07-C2D9-06AC-5CE8F062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47990"/>
            <a:ext cx="3848981" cy="8731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F2E6-646E-7ECC-4393-DBA4C1DAF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C1322D-D9FB-A490-A6BF-C97E6C5BDD4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87FE76-13A6-4355-23BD-0AF68FF5AAB2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MinHash相似度检测</a:t>
            </a:r>
            <a:endParaRPr lang="en-US" sz="2800" dirty="0"/>
          </a:p>
        </p:txBody>
      </p:sp>
      <p:pic>
        <p:nvPicPr>
          <p:cNvPr id="12" name="图片 11" descr="文本&#10;&#10;AI 生成的内容可能不正确。">
            <a:extLst>
              <a:ext uri="{FF2B5EF4-FFF2-40B4-BE49-F238E27FC236}">
                <a16:creationId xmlns:a16="http://schemas.microsoft.com/office/drawing/2014/main" id="{5DF9BAF3-C493-4084-590F-EC93B4AA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69" y="1727581"/>
            <a:ext cx="8624461" cy="2345939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98B71A-DCFD-2BD4-ED6D-9FAEEBF6BA58}"/>
              </a:ext>
            </a:extLst>
          </p:cNvPr>
          <p:cNvCxnSpPr>
            <a:cxnSpLocks/>
          </p:cNvCxnSpPr>
          <p:nvPr/>
        </p:nvCxnSpPr>
        <p:spPr>
          <a:xfrm>
            <a:off x="1761067" y="2468033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8DF0728-8A33-8125-975C-017707E1023C}"/>
              </a:ext>
            </a:extLst>
          </p:cNvPr>
          <p:cNvCxnSpPr>
            <a:cxnSpLocks/>
          </p:cNvCxnSpPr>
          <p:nvPr/>
        </p:nvCxnSpPr>
        <p:spPr>
          <a:xfrm>
            <a:off x="1761067" y="2567516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33784F3-DC12-9520-17AD-6D510BA83426}"/>
              </a:ext>
            </a:extLst>
          </p:cNvPr>
          <p:cNvCxnSpPr>
            <a:cxnSpLocks/>
          </p:cNvCxnSpPr>
          <p:nvPr/>
        </p:nvCxnSpPr>
        <p:spPr>
          <a:xfrm>
            <a:off x="1761067" y="2681816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573361E-3FEB-2657-01D9-B4F955C34D44}"/>
              </a:ext>
            </a:extLst>
          </p:cNvPr>
          <p:cNvCxnSpPr>
            <a:cxnSpLocks/>
          </p:cNvCxnSpPr>
          <p:nvPr/>
        </p:nvCxnSpPr>
        <p:spPr>
          <a:xfrm>
            <a:off x="1761067" y="2774950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1C31D6A-5990-89B7-9855-75BBE86B3515}"/>
              </a:ext>
            </a:extLst>
          </p:cNvPr>
          <p:cNvCxnSpPr>
            <a:cxnSpLocks/>
          </p:cNvCxnSpPr>
          <p:nvPr/>
        </p:nvCxnSpPr>
        <p:spPr>
          <a:xfrm>
            <a:off x="1761067" y="2880099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B3038C4-64EF-C27A-48E2-66F5ABE16DD2}"/>
              </a:ext>
            </a:extLst>
          </p:cNvPr>
          <p:cNvCxnSpPr>
            <a:cxnSpLocks/>
          </p:cNvCxnSpPr>
          <p:nvPr/>
        </p:nvCxnSpPr>
        <p:spPr>
          <a:xfrm>
            <a:off x="1761067" y="2978867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B3509B5-D793-850D-E049-6A1C695F70B5}"/>
              </a:ext>
            </a:extLst>
          </p:cNvPr>
          <p:cNvCxnSpPr>
            <a:cxnSpLocks/>
          </p:cNvCxnSpPr>
          <p:nvPr/>
        </p:nvCxnSpPr>
        <p:spPr>
          <a:xfrm>
            <a:off x="1761067" y="3083299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2F028CD-2546-BCEC-4D40-0A15AA1698B2}"/>
              </a:ext>
            </a:extLst>
          </p:cNvPr>
          <p:cNvCxnSpPr>
            <a:cxnSpLocks/>
          </p:cNvCxnSpPr>
          <p:nvPr/>
        </p:nvCxnSpPr>
        <p:spPr>
          <a:xfrm>
            <a:off x="1761067" y="3176433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FF77ABAB-9485-4A6E-A008-76460D7565E0}"/>
              </a:ext>
            </a:extLst>
          </p:cNvPr>
          <p:cNvCxnSpPr>
            <a:cxnSpLocks/>
          </p:cNvCxnSpPr>
          <p:nvPr/>
        </p:nvCxnSpPr>
        <p:spPr>
          <a:xfrm>
            <a:off x="1761067" y="3282266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E07422F-E7BE-3645-9DE3-D24F0C09300B}"/>
              </a:ext>
            </a:extLst>
          </p:cNvPr>
          <p:cNvCxnSpPr>
            <a:cxnSpLocks/>
          </p:cNvCxnSpPr>
          <p:nvPr/>
        </p:nvCxnSpPr>
        <p:spPr>
          <a:xfrm>
            <a:off x="1761067" y="3485466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295B417-ED6C-0F5E-BC42-CC06A18336A0}"/>
              </a:ext>
            </a:extLst>
          </p:cNvPr>
          <p:cNvCxnSpPr>
            <a:cxnSpLocks/>
          </p:cNvCxnSpPr>
          <p:nvPr/>
        </p:nvCxnSpPr>
        <p:spPr>
          <a:xfrm>
            <a:off x="1761067" y="3587066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9794399-BC90-D6D9-916C-BE9889CF3174}"/>
              </a:ext>
            </a:extLst>
          </p:cNvPr>
          <p:cNvCxnSpPr>
            <a:cxnSpLocks/>
          </p:cNvCxnSpPr>
          <p:nvPr/>
        </p:nvCxnSpPr>
        <p:spPr>
          <a:xfrm>
            <a:off x="1761067" y="3692900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B310400-4DE2-73B3-95A2-07C13070C8C1}"/>
              </a:ext>
            </a:extLst>
          </p:cNvPr>
          <p:cNvCxnSpPr>
            <a:cxnSpLocks/>
          </p:cNvCxnSpPr>
          <p:nvPr/>
        </p:nvCxnSpPr>
        <p:spPr>
          <a:xfrm>
            <a:off x="1761067" y="3798733"/>
            <a:ext cx="419946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893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E5E7-EA08-8FF8-7771-D8443389F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322B6F-EE86-0F84-95EA-89E12C23A00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E8734D-F206-2920-1BA4-529AA56498D7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</a:t>
            </a:r>
            <a:endParaRPr lang="en-US" sz="2800" dirty="0"/>
          </a:p>
        </p:txBody>
      </p:sp>
      <p:pic>
        <p:nvPicPr>
          <p:cNvPr id="14" name="图片 13" descr="文本&#10;&#10;AI 生成的内容可能不正确。">
            <a:extLst>
              <a:ext uri="{FF2B5EF4-FFF2-40B4-BE49-F238E27FC236}">
                <a16:creationId xmlns:a16="http://schemas.microsoft.com/office/drawing/2014/main" id="{CB9AEAE1-FB37-B0CF-FAAA-AF1DD0A13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60" y="1193800"/>
            <a:ext cx="2978041" cy="372110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4F13DDAD-333D-52D0-72F3-AE1EE7AA3221}"/>
              </a:ext>
            </a:extLst>
          </p:cNvPr>
          <p:cNvSpPr/>
          <p:nvPr/>
        </p:nvSpPr>
        <p:spPr>
          <a:xfrm>
            <a:off x="3835399" y="2137833"/>
            <a:ext cx="4770967" cy="590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转发</a:t>
            </a:r>
            <a:r>
              <a:rPr lang="en-US" altLang="zh-CN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</a:t>
            </a:r>
            <a:r>
              <a:rPr lang="en-US" altLang="zh-CN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转发本身具有不确定性和随机性，</a:t>
            </a:r>
            <a:endParaRPr lang="en-US" altLang="zh-CN" sz="1800" b="1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预测</a:t>
            </a:r>
            <a:r>
              <a:rPr lang="en-US" altLang="zh-CN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1000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个和预测</a:t>
            </a:r>
            <a:r>
              <a:rPr lang="en-US" altLang="zh-CN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1005</a:t>
            </a:r>
            <a:r>
              <a:rPr lang="zh-CN" altLang="en-US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个没有太大差别</a:t>
            </a:r>
            <a:endParaRPr lang="en-US" sz="14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3BCBE41-6FEA-7EF8-4C2D-75E082D16F8B}"/>
              </a:ext>
            </a:extLst>
          </p:cNvPr>
          <p:cNvSpPr/>
          <p:nvPr/>
        </p:nvSpPr>
        <p:spPr>
          <a:xfrm>
            <a:off x="3835398" y="3166534"/>
            <a:ext cx="4770967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8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语义具有不确定性和模糊性，</a:t>
            </a:r>
            <a:endParaRPr lang="en-US" altLang="zh-CN" sz="1800" b="1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比如“查看图片”的评论在缺少图片信息的情况下，</a:t>
            </a:r>
            <a:endParaRPr lang="en-US" altLang="zh-CN" sz="1400">
              <a:solidFill>
                <a:srgbClr val="2C3E50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zh-CN" altLang="en-US" sz="140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语义具有极大的模糊性。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90677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C02F9-9E61-C7F9-3EE3-404411C32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3400C2-AAE8-B761-A911-AFC1AF63929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C09CE6-AE9A-FD99-D92E-6E88297CBB8E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</a:t>
            </a: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主题分析</a:t>
            </a:r>
            <a:endParaRPr lang="en-US" sz="2800" dirty="0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0527F172-4F2A-D854-44DB-941D9BC71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813" y="1045848"/>
            <a:ext cx="2918373" cy="1755970"/>
          </a:xfrm>
          <a:prstGeom prst="rect">
            <a:avLst/>
          </a:prstGeom>
        </p:spPr>
      </p:pic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BDF0ADF9-299C-866F-A509-5406C5EE8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96" y="2933267"/>
            <a:ext cx="7255608" cy="201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27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14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特征工程（4类17维）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8F6F3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基础特征 (7维)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用户评论数、是否认证、是否一级评论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微博评论数、发布时间（小时/星期/工作日）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DF2E9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文本特征 (6维)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5544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评论长度、感叹号数、问号数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表情数、话题标签、小米关键词数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5EEF8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LDA主题 (1维)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潜在狄利克雷分配主题模型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性能讨论 / 安全话题 / 品牌对比...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时间密度 (3维)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3832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时间顺序索引、最大相似度、重复次数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MinHash算法高效检测相似评论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NGBoost模型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自然梯度提升 (Natural Gradient Boosting)
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基于梯度提升的概率预测方法
• 直接拟合条件概率分布参数
• 同时输出预测均值 μ 和标准差 σ
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EF9E7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对数尺度NLL损失函数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0.5 · log(σ²) + [log(y+10) - log(μ+10)]² / (2σ²)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模型配置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3657600" cy="1097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n_estimators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BGE神经网络架构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模型架构流程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2E40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4类文本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预处理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BGE编码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1208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9B59B6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特征拼接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 rot="5400000">
            <a:off x="7429500" y="2143336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0" y="2732192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77410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双预测头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 rot="5400000">
            <a:off x="7442200" y="3358516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58000" y="3942928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C283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9429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(μ, σ)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3774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BGE-base-zh-v1.5
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768维中文文本嵌入
• 编码4类文本：评论/微博/根评论/父评论
• 默认冻结，支持微调
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66160" y="2332989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zh-CN" altLang="en-US" sz="1600" b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命名实体、特殊符号 训练嵌入向量</a:t>
            </a: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@高频用户 保留原始ID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@</a:t>
            </a:r>
            <a:r>
              <a:rPr lang="en-US" altLang="zh-CN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</a:t>
            </a:r>
            <a:r>
              <a:rPr 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 替换为 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</a:t>
            </a:r>
            <a:r>
              <a:rPr 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</a:t>
            </a:r>
          </a:p>
          <a:p>
            <a:r>
              <a:rPr lang="en-US" altLang="zh-CN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小米汽车相关词汇</a:t>
            </a:r>
            <a:endParaRPr lang="en-US" altLang="zh-CN" sz="130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altLang="zh-CN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表情符号</a:t>
            </a:r>
            <a:endParaRPr lang="en-US" altLang="zh-CN" sz="1300">
              <a:solidFill>
                <a:srgbClr val="2C3E5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altLang="zh-CN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zh-CN" altLang="en-US" sz="13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特殊字符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Cross-Attention融合
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评论向量作为Query
• 上下文（微博/父评论）作为Key/Value
• 自适应融合上下文信息
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66160" y="37490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双预测头
</a:t>
            </a: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均值头：预测子评论数
• 方差头：预测不确定性
• Softplus激活保证正值
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BDFF-F144-297F-A034-846456FF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280608-9453-1777-332F-EE86687FACB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9CCC0C-2A15-5030-0F90-D47D136B8EDF}"/>
              </a:ext>
            </a:extLst>
          </p:cNvPr>
          <p:cNvSpPr/>
          <p:nvPr/>
        </p:nvSpPr>
        <p:spPr>
          <a:xfrm>
            <a:off x="457200" y="2514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命名实体词典</a:t>
            </a:r>
            <a:endParaRPr lang="en-US" sz="2800" dirty="0"/>
          </a:p>
        </p:txBody>
      </p:sp>
      <p:pic>
        <p:nvPicPr>
          <p:cNvPr id="17" name="图片 16" descr="文本&#10;&#10;AI 生成的内容可能不正确。">
            <a:extLst>
              <a:ext uri="{FF2B5EF4-FFF2-40B4-BE49-F238E27FC236}">
                <a16:creationId xmlns:a16="http://schemas.microsoft.com/office/drawing/2014/main" id="{278F7A81-7938-84E3-8E41-CAB855EC7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65860"/>
            <a:ext cx="3004027" cy="3522134"/>
          </a:xfrm>
          <a:prstGeom prst="rect">
            <a:avLst/>
          </a:prstGeom>
        </p:spPr>
      </p:pic>
      <p:pic>
        <p:nvPicPr>
          <p:cNvPr id="21" name="图片 20" descr="图片包含 文本&#10;&#10;AI 生成的内容可能不正确。">
            <a:extLst>
              <a:ext uri="{FF2B5EF4-FFF2-40B4-BE49-F238E27FC236}">
                <a16:creationId xmlns:a16="http://schemas.microsoft.com/office/drawing/2014/main" id="{A3A4F3FF-D178-98CC-B720-7AB123F5F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775" y="361950"/>
            <a:ext cx="127906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13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评价指标体系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E8F8F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精度指标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MSLE (均方对数误差)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>
              <a:buNone/>
            </a:pPr>
            <a:r>
              <a:rPr lang="en-US" sz="12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@20% (容忍区间准确率)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DF2E9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不确定性指标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NLL (负对数似然)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200" b="1">
              <a:solidFill>
                <a:srgbClr val="7F8C8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PICP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@95% (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置信区间覆盖率)</a:t>
            </a:r>
            <a:b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+MPIW</a:t>
            </a:r>
            <a:r>
              <a:rPr lang="zh-CN" alt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（平均预测区间宽度）</a:t>
            </a:r>
            <a:r>
              <a:rPr lang="en-US" sz="14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ED71360-2D30-20D4-5B9E-4A4DDEEB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88" y="2156231"/>
            <a:ext cx="3635104" cy="3657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284DE75-ED32-5562-A862-5C4403A3F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74" y="3467883"/>
            <a:ext cx="3810532" cy="457264"/>
          </a:xfrm>
          <a:prstGeom prst="rect">
            <a:avLst/>
          </a:prstGeom>
        </p:spPr>
      </p:pic>
      <p:pic>
        <p:nvPicPr>
          <p:cNvPr id="15" name="图片 14" descr="图形用户界面&#10;&#10;AI 生成的内容可能不正确。">
            <a:extLst>
              <a:ext uri="{FF2B5EF4-FFF2-40B4-BE49-F238E27FC236}">
                <a16:creationId xmlns:a16="http://schemas.microsoft.com/office/drawing/2014/main" id="{DEB51D53-5AB0-916B-92C1-8509C7875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008" y="2110227"/>
            <a:ext cx="3635104" cy="75477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C4A0458-85F8-FCB5-C6FF-FA026EF860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120" y="3587645"/>
            <a:ext cx="2790879" cy="337502"/>
          </a:xfrm>
          <a:prstGeom prst="rect">
            <a:avLst/>
          </a:prstGeom>
        </p:spPr>
      </p:pic>
      <p:pic>
        <p:nvPicPr>
          <p:cNvPr id="19" name="图片 18" descr="卡通人物&#10;&#10;AI 生成的内容可能不正确。">
            <a:extLst>
              <a:ext uri="{FF2B5EF4-FFF2-40B4-BE49-F238E27FC236}">
                <a16:creationId xmlns:a16="http://schemas.microsoft.com/office/drawing/2014/main" id="{CB7BA96C-10FB-231F-A6E8-20BA252001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726" y="4016587"/>
            <a:ext cx="3127666" cy="3998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特征重要性分析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188720"/>
            <a:ext cx="3108960" cy="3200400"/>
          </a:xfrm>
          <a:prstGeom prst="roundRect">
            <a:avLst>
              <a:gd name="adj" fmla="val 2941"/>
            </a:avLst>
          </a:prstGeom>
          <a:solidFill>
            <a:srgbClr val="F8F9FA"/>
          </a:solidFill>
          <a:ln w="12700">
            <a:solidFill>
              <a:srgbClr val="2E40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73736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特征占比 79%
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用户活跃度
</a:t>
            </a: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活跃用户的评论更易获关注
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评论层级
</a:t>
            </a: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一级评论曝光度更高
</a:t>
            </a: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微博热度
</a:t>
            </a: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热门微博下的评论互动更多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基线方法对比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348391"/>
              </p:ext>
            </p:extLst>
          </p:nvPr>
        </p:nvGraphicFramePr>
        <p:xfrm>
          <a:off x="457200" y="1291590"/>
          <a:ext cx="8229599" cy="2880360"/>
        </p:xfrm>
        <a:graphic>
          <a:graphicData uri="http://schemas.openxmlformats.org/drawingml/2006/table">
            <a:tbl>
              <a:tblPr/>
              <a:tblGrid>
                <a:gridCol w="1748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919">
                  <a:extLst>
                    <a:ext uri="{9D8B030D-6E8A-4147-A177-3AD203B41FA5}">
                      <a16:colId xmlns:a16="http://schemas.microsoft.com/office/drawing/2014/main" val="3509552996"/>
                    </a:ext>
                  </a:extLst>
                </a:gridCol>
                <a:gridCol w="1605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7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训练集 </a:t>
                      </a:r>
                      <a:r>
                        <a:rPr lang="en-US" sz="14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验证集 </a:t>
                      </a:r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altLang="zh-CN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测试集 </a:t>
                      </a:r>
                      <a:r>
                        <a:rPr lang="en-US" altLang="zh-CN" sz="14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不确定性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Ridge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0.0031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0.0041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0.0018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-0.0003 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-0.0004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-0.0007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0.1734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0.0574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0.0085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GBDT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0.6341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0.2065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0.0101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0.4314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0.0910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0.0187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LightGBM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0.0632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0.0456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kern="1200">
                          <a:solidFill>
                            <a:srgbClr val="000000"/>
                          </a:solidFill>
                          <a:latin typeface="Arial" pitchFamily="34" charset="0"/>
                          <a:ea typeface="+mn-ea"/>
                          <a:cs typeface="Arial" pitchFamily="34" charset="-120"/>
                        </a:rPr>
                        <a:t>0.0157</a:t>
                      </a:r>
                      <a:endParaRPr lang="en-US" sz="1400" kern="1200" dirty="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NGBoost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>
                          <a:solidFill>
                            <a:srgbClr val="16A085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0.0371 </a:t>
                      </a:r>
                      <a:endParaRPr lang="en-US" sz="1400" b="1" kern="1200" dirty="0">
                        <a:solidFill>
                          <a:srgbClr val="16A085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altLang="zh-CN" sz="1400" b="1" kern="1200">
                          <a:solidFill>
                            <a:srgbClr val="16A085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BGE-mini</a:t>
                      </a:r>
                      <a:endParaRPr lang="en-US" sz="1400" b="1" kern="1200" dirty="0">
                        <a:solidFill>
                          <a:srgbClr val="16A085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altLang="zh-CN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363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738326"/>
              </p:ext>
            </p:extLst>
          </p:nvPr>
        </p:nvGraphicFramePr>
        <p:xfrm>
          <a:off x="457200" y="1188720"/>
          <a:ext cx="8156308" cy="1463040"/>
        </p:xfrm>
        <a:graphic>
          <a:graphicData uri="http://schemas.openxmlformats.org/drawingml/2006/table">
            <a:tbl>
              <a:tblPr/>
              <a:tblGrid>
                <a:gridCol w="1082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6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447">
                  <a:extLst>
                    <a:ext uri="{9D8B030D-6E8A-4147-A177-3AD203B41FA5}">
                      <a16:colId xmlns:a16="http://schemas.microsoft.com/office/drawing/2014/main" val="2855184122"/>
                    </a:ext>
                  </a:extLst>
                </a:gridCol>
                <a:gridCol w="13332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6626">
                  <a:extLst>
                    <a:ext uri="{9D8B030D-6E8A-4147-A177-3AD203B41FA5}">
                      <a16:colId xmlns:a16="http://schemas.microsoft.com/office/drawing/2014/main" val="19660807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ACP@20%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NLL</a:t>
                      </a:r>
                      <a:endParaRPr lang="en-US" sz="1400" b="1" kern="1200" dirty="0">
                        <a:solidFill>
                          <a:srgbClr val="FFFFFF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PICP@95%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MPIW</a:t>
                      </a:r>
                      <a:endParaRPr lang="en-US" sz="1400" b="1" kern="1200" dirty="0">
                        <a:solidFill>
                          <a:srgbClr val="FFFFFF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训练集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0.0179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98.15%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-2.5129</a:t>
                      </a:r>
                      <a:endParaRPr lang="en-US" altLang="zh-CN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latin typeface="Arial" charset="0"/>
                          <a:ea typeface="Arial" charset="0"/>
                          <a:cs typeface="Arial" charset="0"/>
                        </a:rPr>
                        <a:t>10000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0.0283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97.61%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-2.8339</a:t>
                      </a:r>
                      <a:endParaRPr lang="en-US" altLang="zh-CN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94.14%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latin typeface="Arial" charset="0"/>
                          <a:ea typeface="Arial" charset="0"/>
                          <a:cs typeface="Arial" charset="0"/>
                        </a:rPr>
                        <a:t>10000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0.0347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97.61%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-2.7078</a:t>
                      </a:r>
                      <a:endParaRPr lang="en-US" altLang="zh-CN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94.44%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latin typeface="Arial" charset="0"/>
                          <a:ea typeface="Arial" charset="0"/>
                          <a:cs typeface="Arial" charset="0"/>
                        </a:rPr>
                        <a:t>10000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ACP@20% 达到 97.61%：</a:t>
            </a:r>
            <a:r>
              <a:rPr lang="en-US" sz="1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绝大多数预测在20%容忍范围内
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PICP@95% 接近 95%：</a:t>
            </a:r>
            <a:r>
              <a:rPr lang="en-US" sz="14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不确定性估计校准良好
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R² 较低但符合预期：</a:t>
            </a: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社交媒体数据固有的随机性
</a:t>
            </a: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训练集与验证集差距：</a:t>
            </a: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提示可能存在过拟合，但泛化仍可接受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主要贡献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数据集构建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27万条小米SU7微博评论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特征工程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4类17维互补特征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概率预测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NGBoost + 对数NLL损失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评价体系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多维指标全面评估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未来工作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用户画像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社交网络结构、历史互动模式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时序建模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捕捉热度动态演化规律
</a:t>
            </a: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跨平台验证
</a:t>
            </a: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推广到其他社交媒体平台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欢迎提问与讨论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841</Words>
  <Application>Microsoft Office PowerPoint</Application>
  <PresentationFormat>全屏显示(16:9)</PresentationFormat>
  <Paragraphs>232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基于自然梯度提升的社交媒体评论热度预测</dc:title>
  <dc:subject>PptxGenJS Presentation</dc:subject>
  <dc:creator>作者</dc:creator>
  <cp:lastModifiedBy>俊凯 李</cp:lastModifiedBy>
  <cp:revision>6</cp:revision>
  <dcterms:created xsi:type="dcterms:W3CDTF">2025-12-29T15:17:12Z</dcterms:created>
  <dcterms:modified xsi:type="dcterms:W3CDTF">2025-12-30T03:17:05Z</dcterms:modified>
</cp:coreProperties>
</file>